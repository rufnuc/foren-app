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2148840"/>
            <a:ext cx="2057400" cy="1143000"/>
          </a:xfrm>
          <a:prstGeom prst="roundRect">
            <a:avLst>
              <a:gd name="adj" fmla="val 14400"/>
            </a:avLst>
          </a:prstGeom>
          <a:solidFill>
            <a:srgbClr val="5B3A5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-1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490472" y="3017520"/>
            <a:ext cx="896112" cy="64008"/>
          </a:xfrm>
          <a:prstGeom prst="roundRect">
            <a:avLst>
              <a:gd name="adj" fmla="val 42857"/>
            </a:avLst>
          </a:prstGeom>
          <a:solidFill>
            <a:srgbClr val="E8B96D"/>
          </a:solidFill>
          <a:ln/>
        </p:spPr>
      </p:sp>
      <p:sp>
        <p:nvSpPr>
          <p:cNvPr id="5" name="Text 3"/>
          <p:cNvSpPr/>
          <p:nvPr/>
        </p:nvSpPr>
        <p:spPr>
          <a:xfrm>
            <a:off x="3383280" y="21488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50" kern="0" dirty="0">
                <a:solidFill>
                  <a:srgbClr val="F5F0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3401568" y="34290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9BE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private, tamper-evident evidence vault for survivors.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</a:t>
            </a:r>
            <a:pPr indent="0" marL="0">
              <a:buNone/>
            </a:pPr>
            <a:r>
              <a:rPr lang="en-US" sz="1200" dirty="0">
                <a:solidFill>
                  <a:srgbClr val="C9BE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Working draft  ·  20 Jul 2026  ·  Local-first · Zero-knowledge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5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46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-5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58368" y="621792"/>
            <a:ext cx="457200" cy="41148"/>
          </a:xfrm>
          <a:prstGeom prst="roundRect">
            <a:avLst>
              <a:gd name="adj" fmla="val 44444"/>
            </a:avLst>
          </a:prstGeom>
          <a:solidFill>
            <a:srgbClr val="E8B96D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Canvas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869680" y="274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draft · 20 Jul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212848" cy="3794760"/>
          </a:xfrm>
          <a:prstGeom prst="roundRect">
            <a:avLst>
              <a:gd name="adj" fmla="val 2479"/>
            </a:avLst>
          </a:prstGeom>
          <a:solidFill>
            <a:srgbClr val="FBF8F2"/>
          </a:solidFill>
          <a:ln w="12700">
            <a:solidFill>
              <a:srgbClr val="DD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03327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PARTNERS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84632" y="1325880"/>
            <a:ext cx="1975104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Anti-violence NGOs, shelters &amp; DV helplines</a:t>
            </a:r>
            <a:endParaRPr lang="en-US" sz="85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Legal-aid clinics, family-law &amp; prosecution support</a:t>
            </a:r>
            <a:endParaRPr lang="en-US" sz="85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Digital-security &amp; human-rights groups (audits)</a:t>
            </a:r>
            <a:endParaRPr lang="en-US" sz="85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Timestamping: Solana + Bitcoin / OpenTimestamps</a:t>
            </a:r>
            <a:endParaRPr lang="en-US" sz="85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Grant-makers &amp; foundations</a:t>
            </a:r>
            <a:endParaRPr lang="en-US" sz="85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/ forensic partners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670048" y="960120"/>
            <a:ext cx="2212848" cy="1851660"/>
          </a:xfrm>
          <a:prstGeom prst="roundRect">
            <a:avLst>
              <a:gd name="adj" fmla="val 2963"/>
            </a:avLst>
          </a:prstGeom>
          <a:solidFill>
            <a:srgbClr val="FBF8F2"/>
          </a:solidFill>
          <a:ln w="12700">
            <a:solidFill>
              <a:srgbClr val="DD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03327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ACTIVITIES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88920" y="1325880"/>
            <a:ext cx="1975104" cy="141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product engineering; audits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design: disguise, duress, panic-wipe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anchoring &amp; offline verification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Trauma-informed UX &amp; safety research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&amp; grant writing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70048" y="2857500"/>
            <a:ext cx="2212848" cy="1851660"/>
          </a:xfrm>
          <a:prstGeom prst="roundRect">
            <a:avLst>
              <a:gd name="adj" fmla="val 2963"/>
            </a:avLst>
          </a:prstGeom>
          <a:solidFill>
            <a:srgbClr val="FBF8F2"/>
          </a:solidFill>
          <a:ln w="12700">
            <a:solidFill>
              <a:srgbClr val="DD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293065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RESOURCES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88920" y="3223260"/>
            <a:ext cx="1975104" cy="141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encryption + anchoring stack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Disguise &amp; duress deniability system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OCR &amp; speech-to-text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brand in survivor networks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product &amp; DV/legal expertise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74336" y="960120"/>
            <a:ext cx="2212848" cy="3794760"/>
          </a:xfrm>
          <a:prstGeom prst="roundRect">
            <a:avLst>
              <a:gd name="adj" fmla="val 2479"/>
            </a:avLst>
          </a:prstGeom>
          <a:solidFill>
            <a:srgbClr val="5B3A5C"/>
          </a:solidFill>
          <a:ln w="12700">
            <a:solidFill>
              <a:srgbClr val="5B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93208" y="103327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E8B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93208" y="1307592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4D0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Gather safely. Keep private. Prove it was never altered.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93208" y="1801368"/>
            <a:ext cx="1975104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 plain sight — opens as a puzzle game; a duress passcode shows an empty decoy</a:t>
            </a:r>
            <a:endParaRPr lang="en-US" sz="850" dirty="0"/>
          </a:p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Zero-knowledge &amp; local-first — encrypted on-device; no account, no cloud</a:t>
            </a:r>
            <a:endParaRPr lang="en-US" sz="850" dirty="0"/>
          </a:p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Tamper-evident proof — hashed &amp; anchored to public blockchains</a:t>
            </a:r>
            <a:endParaRPr lang="en-US" sz="850" dirty="0"/>
          </a:p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material — on-device OCR &amp; transcription, fully offline</a:t>
            </a:r>
            <a:endParaRPr lang="en-US" sz="850" dirty="0"/>
          </a:p>
          <a:p>
            <a:pPr marL="152400" indent="-152400">
              <a:lnSpc>
                <a:spcPct val="98000"/>
              </a:lnSpc>
              <a:spcAft>
                <a:spcPts val="500"/>
              </a:spcAft>
              <a:buSzPct val="100000"/>
              <a:buChar char="•"/>
            </a:pPr>
            <a:r>
              <a:rPr lang="en-US" sz="85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Court-ready exports with offline-verifiable proofs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278624" y="960120"/>
            <a:ext cx="2212848" cy="1851660"/>
          </a:xfrm>
          <a:prstGeom prst="roundRect">
            <a:avLst>
              <a:gd name="adj" fmla="val 2963"/>
            </a:avLst>
          </a:prstGeom>
          <a:solidFill>
            <a:srgbClr val="FBF8F2"/>
          </a:solidFill>
          <a:ln w="12700">
            <a:solidFill>
              <a:srgbClr val="DD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7496" y="103327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RELATIONSHIPS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97496" y="1325880"/>
            <a:ext cx="1975104" cy="141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Anonymous, self-serve, no-account by design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routed via advocates &amp; orgs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safety guidance &amp; help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onboarding for partner orgs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278624" y="2857500"/>
            <a:ext cx="2212848" cy="1851660"/>
          </a:xfrm>
          <a:prstGeom prst="roundRect">
            <a:avLst>
              <a:gd name="adj" fmla="val 2963"/>
            </a:avLst>
          </a:prstGeom>
          <a:solidFill>
            <a:srgbClr val="FBF8F2"/>
          </a:solidFill>
          <a:ln w="12700">
            <a:solidFill>
              <a:srgbClr val="DDD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97496" y="293065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397496" y="3223260"/>
            <a:ext cx="1975104" cy="1412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+ disguised app-store listing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Intermediaries: caseworkers, helplines, clinics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Advocate &amp; practitioner networks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of mouth — never ad-retargeting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582912" y="960120"/>
            <a:ext cx="2212848" cy="3794760"/>
          </a:xfrm>
          <a:prstGeom prst="roundRect">
            <a:avLst>
              <a:gd name="adj" fmla="val 2479"/>
            </a:avLst>
          </a:prstGeom>
          <a:solidFill>
            <a:srgbClr val="FBF8F2"/>
          </a:solidFill>
          <a:ln w="12700">
            <a:solidFill>
              <a:srgbClr val="DDD2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01784" y="103327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701784" y="1325880"/>
            <a:ext cx="1975104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survivors of abuse, coercive control, stalking &amp; GBV</a:t>
            </a:r>
            <a:endParaRPr lang="en-US" sz="85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— shelters, helplines, legal-aid, law firms, advocacy groups</a:t>
            </a:r>
            <a:endParaRPr lang="en-US" sz="85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at-risk — human-rights defenders, journalists’ sources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65760" y="4846320"/>
            <a:ext cx="6821424" cy="1627632"/>
          </a:xfrm>
          <a:prstGeom prst="roundRect">
            <a:avLst>
              <a:gd name="adj" fmla="val 3371"/>
            </a:avLst>
          </a:prstGeom>
          <a:solidFill>
            <a:srgbClr val="FBF8F2"/>
          </a:solidFill>
          <a:ln w="12700">
            <a:solidFill>
              <a:srgbClr val="DDD2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" y="4919472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STRUCTURE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" y="5230368"/>
            <a:ext cx="3200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security salaries (largest)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audits &amp; penetration testing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relay, chain fees, hosting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776472" y="5230368"/>
            <a:ext cx="32004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 (evidentiary, data protection)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 &amp; training delivery</a:t>
            </a:r>
            <a:endParaRPr lang="en-US" sz="80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80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management &amp; operations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78624" y="4846320"/>
            <a:ext cx="4517136" cy="1627632"/>
          </a:xfrm>
          <a:prstGeom prst="roundRect">
            <a:avLst>
              <a:gd name="adj" fmla="val 3371"/>
            </a:avLst>
          </a:prstGeom>
          <a:solidFill>
            <a:srgbClr val="FBF1DE"/>
          </a:solidFill>
          <a:ln w="12700">
            <a:solidFill>
              <a:srgbClr val="CBA96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97496" y="4919472"/>
            <a:ext cx="42793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A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397496" y="52120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Organization-sponsored</a:t>
            </a:r>
            <a:endParaRPr lang="en-US" sz="800" dirty="0"/>
          </a:p>
          <a:p>
            <a:pPr indent="0" marL="0">
              <a:buNone/>
            </a:pPr>
            <a:r>
              <a:rPr lang="en-US" sz="700" i="1" dirty="0">
                <a:solidFill>
                  <a:srgbClr val="5F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 decides who needs it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397496" y="5614416"/>
            <a:ext cx="2075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 buy licenses &amp; enrol the survivors they serve (who pay nothing)</a:t>
            </a:r>
            <a:endParaRPr lang="en-US" sz="750" dirty="0"/>
          </a:p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budget-backed recurring revenue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9601200" y="5212080"/>
            <a:ext cx="2075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subscription</a:t>
            </a:r>
            <a:endParaRPr lang="en-US" sz="800" dirty="0"/>
          </a:p>
          <a:p>
            <a:pPr indent="0" marL="0">
              <a:buNone/>
            </a:pPr>
            <a:r>
              <a:rPr lang="en-US" sz="700" i="1" dirty="0">
                <a:solidFill>
                  <a:srgbClr val="5F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anyone an org doesn’t reach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601200" y="5614416"/>
            <a:ext cx="2075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 subscribe on their own (affordable tier)</a:t>
            </a:r>
            <a:endParaRPr lang="en-US" sz="750" dirty="0"/>
          </a:p>
          <a:p>
            <a:pPr marL="152400" indent="-152400">
              <a:lnSpc>
                <a:spcPct val="98000"/>
              </a:lnSpc>
              <a:spcAft>
                <a:spcPts val="200"/>
              </a:spcAft>
              <a:buSzPct val="100000"/>
              <a:buChar char="•"/>
            </a:pPr>
            <a:r>
              <a:rPr lang="en-US" sz="7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Grant-funded hardship access; core safety never paywalled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7397496" y="6199632"/>
            <a:ext cx="4279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A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grants &amp; philanthropy, partner training contracts, later public-sector pilots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365760" y="6528816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front doors, no one gated out. </a:t>
            </a:r>
            <a:pPr indent="0" marL="0">
              <a:buNone/>
            </a:pPr>
            <a:r>
              <a:rPr lang="en-US" sz="850" dirty="0">
                <a:solidFill>
                  <a:srgbClr val="5F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sponsor the survivors they serve (who pay nothing); anyone the org network doesn’t reach can subscribe directly, with grant-funded access for those who can’t afford it.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74320"/>
            <a:ext cx="1051560" cy="502920"/>
          </a:xfrm>
          <a:prstGeom prst="roundRect">
            <a:avLst>
              <a:gd name="adj" fmla="val 18182"/>
            </a:avLst>
          </a:prstGeom>
          <a:solidFill>
            <a:srgbClr val="5B3A5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46888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spc="-5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58368" y="621792"/>
            <a:ext cx="457200" cy="41148"/>
          </a:xfrm>
          <a:prstGeom prst="roundRect">
            <a:avLst>
              <a:gd name="adj" fmla="val 44444"/>
            </a:avLst>
          </a:prstGeom>
          <a:solidFill>
            <a:srgbClr val="E8B96D"/>
          </a:solidFill>
          <a:ln/>
        </p:spPr>
      </p:sp>
      <p:sp>
        <p:nvSpPr>
          <p:cNvPr id="5" name="Text 3"/>
          <p:cNvSpPr/>
          <p:nvPr/>
        </p:nvSpPr>
        <p:spPr>
          <a:xfrm>
            <a:off x="16002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41E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money flows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9520" y="2743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5F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Those who can pay fund those who need 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A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869680" y="10515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ACCESS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2834640" cy="1005840"/>
          </a:xfrm>
          <a:prstGeom prst="roundRect">
            <a:avLst>
              <a:gd name="adj" fmla="val 6364"/>
            </a:avLst>
          </a:prstGeom>
          <a:solidFill>
            <a:srgbClr val="FBF1DE"/>
          </a:solidFill>
          <a:ln w="15875">
            <a:solidFill>
              <a:srgbClr val="CBA9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618488"/>
            <a:ext cx="2615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organizations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F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NGOs · shelters · clinics · law firms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222199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A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fees  →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57200" y="2880360"/>
            <a:ext cx="2834640" cy="1005840"/>
          </a:xfrm>
          <a:prstGeom prst="roundRect">
            <a:avLst>
              <a:gd name="adj" fmla="val 6364"/>
            </a:avLst>
          </a:prstGeom>
          <a:solidFill>
            <a:srgbClr val="FBF1DE"/>
          </a:solidFill>
          <a:ln w="15875">
            <a:solidFill>
              <a:srgbClr val="CBA9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990088"/>
            <a:ext cx="2615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subscribers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F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 org doesn’t reach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59359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A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 →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4251960"/>
            <a:ext cx="2834640" cy="1005840"/>
          </a:xfrm>
          <a:prstGeom prst="roundRect">
            <a:avLst>
              <a:gd name="adj" fmla="val 6364"/>
            </a:avLst>
          </a:prstGeom>
          <a:solidFill>
            <a:srgbClr val="FBF1DE"/>
          </a:solidFill>
          <a:ln w="15875">
            <a:solidFill>
              <a:srgbClr val="CBA9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361688"/>
            <a:ext cx="2615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&amp; philanthropy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F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 · digital-safety · justice funders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496519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A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 →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2331720"/>
            <a:ext cx="2743200" cy="2103120"/>
          </a:xfrm>
          <a:prstGeom prst="roundRect">
            <a:avLst>
              <a:gd name="adj" fmla="val 5217"/>
            </a:avLst>
          </a:prstGeom>
          <a:solidFill>
            <a:srgbClr val="5B3A5C"/>
          </a:solidFill>
          <a:ln w="12700">
            <a:solidFill>
              <a:srgbClr val="442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7432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-100" kern="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foren</a:t>
            </a:r>
            <a:endParaRPr lang="en-US" sz="3400" dirty="0"/>
          </a:p>
        </p:txBody>
      </p:sp>
      <p:sp>
        <p:nvSpPr>
          <p:cNvPr id="20" name="Shape 18"/>
          <p:cNvSpPr/>
          <p:nvPr/>
        </p:nvSpPr>
        <p:spPr>
          <a:xfrm>
            <a:off x="5623560" y="3447288"/>
            <a:ext cx="914400" cy="54864"/>
          </a:xfrm>
          <a:prstGeom prst="roundRect">
            <a:avLst>
              <a:gd name="adj" fmla="val 50000"/>
            </a:avLst>
          </a:prstGeom>
          <a:solidFill>
            <a:srgbClr val="E8B96D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6301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Encrypted, on-device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4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vault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869680" y="1508760"/>
            <a:ext cx="2834640" cy="100584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5875">
            <a:solidFill>
              <a:srgbClr val="DDD2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79408" y="1618488"/>
            <a:ext cx="2615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 via their org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F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enrolled by the organization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79408" y="222199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Free access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869680" y="2880360"/>
            <a:ext cx="2834640" cy="100584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5875">
            <a:solidFill>
              <a:srgbClr val="DDD2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979408" y="2990088"/>
            <a:ext cx="2615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subscribers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F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self-serve, affordable tier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979408" y="359359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Paid access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869680" y="4251960"/>
            <a:ext cx="2834640" cy="1005840"/>
          </a:xfrm>
          <a:prstGeom prst="roundRect">
            <a:avLst>
              <a:gd name="adj" fmla="val 6364"/>
            </a:avLst>
          </a:prstGeom>
          <a:solidFill>
            <a:srgbClr val="FBF8F2"/>
          </a:solidFill>
          <a:ln w="15875">
            <a:solidFill>
              <a:srgbClr val="DDD2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79408" y="4361688"/>
            <a:ext cx="26151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Hardship users</a:t>
            </a:r>
            <a:endParaRPr lang="en-US" sz="1100" dirty="0"/>
          </a:p>
          <a:p>
            <a:pPr indent="0" marL="0">
              <a:buNone/>
            </a:pPr>
            <a:r>
              <a:rPr lang="en-US" sz="850" dirty="0">
                <a:solidFill>
                  <a:srgbClr val="5F54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by grant funding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979408" y="496519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5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 Free access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291840" y="2011680"/>
            <a:ext cx="1417320" cy="731520"/>
          </a:xfrm>
          <a:prstGeom prst="line">
            <a:avLst/>
          </a:prstGeom>
          <a:noFill/>
          <a:ln w="28575">
            <a:solidFill>
              <a:srgbClr val="A9791F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 flipV="1">
            <a:off x="3291840" y="3383280"/>
            <a:ext cx="1417320" cy="0"/>
          </a:xfrm>
          <a:prstGeom prst="line">
            <a:avLst/>
          </a:prstGeom>
          <a:noFill/>
          <a:ln w="28575">
            <a:solidFill>
              <a:srgbClr val="A9791F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3291840" y="4023360"/>
            <a:ext cx="1417320" cy="731520"/>
          </a:xfrm>
          <a:prstGeom prst="line">
            <a:avLst/>
          </a:prstGeom>
          <a:noFill/>
          <a:ln w="28575">
            <a:solidFill>
              <a:srgbClr val="A9791F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7452360" y="2011680"/>
            <a:ext cx="1417320" cy="731520"/>
          </a:xfrm>
          <a:prstGeom prst="line">
            <a:avLst/>
          </a:prstGeom>
          <a:noFill/>
          <a:ln w="28575">
            <a:solidFill>
              <a:srgbClr val="5B3A5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452360" y="3383280"/>
            <a:ext cx="1417320" cy="0"/>
          </a:xfrm>
          <a:prstGeom prst="line">
            <a:avLst/>
          </a:prstGeom>
          <a:noFill/>
          <a:ln w="28575">
            <a:solidFill>
              <a:srgbClr val="5B3A5C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52360" y="4023360"/>
            <a:ext cx="1417320" cy="731520"/>
          </a:xfrm>
          <a:prstGeom prst="line">
            <a:avLst/>
          </a:prstGeom>
          <a:noFill/>
          <a:ln w="28575">
            <a:solidFill>
              <a:srgbClr val="5B3A5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548640" y="5806440"/>
            <a:ext cx="411480" cy="0"/>
          </a:xfrm>
          <a:prstGeom prst="line">
            <a:avLst/>
          </a:prstGeom>
          <a:noFill/>
          <a:ln w="31750">
            <a:solidFill>
              <a:srgbClr val="A9791F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1024128" y="5669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in — from those who can pay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669280" y="5806440"/>
            <a:ext cx="411480" cy="0"/>
          </a:xfrm>
          <a:prstGeom prst="line">
            <a:avLst/>
          </a:prstGeom>
          <a:noFill/>
          <a:ln w="31750">
            <a:solidFill>
              <a:srgbClr val="5B3A5C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6144768" y="56692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1E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/ affordable access — to those who need it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F54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survivor is priced out: organizations and paying users cover the cost, and grants back everyone else.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2026-07-21T08:37:33Z</dcterms:created>
  <dcterms:modified xsi:type="dcterms:W3CDTF">2026-07-21T08:37:33Z</dcterms:modified>
</cp:coreProperties>
</file>